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E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49808" y="1417320"/>
            <a:ext cx="10058400" cy="6400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Microsoft JhengHei"/>
              </a:rPr>
              <a:t>流程圖大全（給指導老師／Canva 貼圖用）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" y="4526280"/>
            <a:ext cx="10515600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Microsoft JhengHei"/>
              </a:rPr>
              <a:t>圖 1～41；沿用原流程圖彙整簡報格式，新增角色架構、權限、細部流程與介面展示圖。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1｜學生使用案例圖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1-use-case-stud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002" y="1143000"/>
            <a:ext cx="4143234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原圖：docs/images/D-01-use-case-student.png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2｜老師使用案例圖（導師、專任教師、指導老師）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1-use-case-teach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0343" y="1143000"/>
            <a:ext cx="5766552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原圖：docs/images/D-01-use-case-teacher.png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3｜科辦／科助使用案例圖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1-use-case-sta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0529" y="1143000"/>
            <a:ext cx="8166181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原圖：docs/images/D-01-use-case-staff.png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4｜系統管理者使用案例圖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1-use-case-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7260" y="1143000"/>
            <a:ext cx="6392718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原圖：docs/images/D-01-use-case-admin.png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5｜登入與角色導頁流程圖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2-login-role-rou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0749" y="1143000"/>
            <a:ext cx="4465740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原圖：docs/images/D-02-login-role-routing.png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6｜學生主線流程圖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0-main-line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4096" y="1143000"/>
            <a:ext cx="1499047" cy="51663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原圖：docs/images/D-10-main-line-flow.png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7｜學校資料匯入流程圖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21-school-data-import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3552" y="1143000"/>
            <a:ext cx="5140134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原圖：docs/images/D-21-school-data-import-flow.png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8｜導師確認流程圖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6-teacher-confirm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7660" y="1143000"/>
            <a:ext cx="5371918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原圖：docs/images/D-16-teacher-confirm-flow.png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9｜科辦核准電子獎狀流程圖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8-staff-service-record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1234" y="1143000"/>
            <a:ext cx="5844770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原圖：docs/images/D-18-staff-service-record-flow.png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10｜科辦表單下載區流程圖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20-form-download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9704" y="1143000"/>
            <a:ext cx="2327831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原圖：docs/images/D-20-form-download-flow.png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11｜招生資料更新流程圖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3-admission-rule-update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7904" y="1142999"/>
            <a:ext cx="1791431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原圖：docs/images/D-13-admission-rule-update-flow.png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12｜二技招生公告與 AI 推薦校系流程圖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9-admission-announcement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3337" y="1143000"/>
            <a:ext cx="4520565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原圖：docs/images/D-19-admission-announcement-flow.png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13｜官網資料來源、資料分類與來源維護流程圖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22-info-source-classify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6639" y="1143000"/>
            <a:ext cx="3813960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原圖：docs/images/D-22-info-source-classify-flow.png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14｜系統管理者維護校系備審要求流程圖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7-admin-maintain-require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8051" y="1143000"/>
            <a:ext cx="2251137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原圖：docs/images/D-17-admin-maintain-requirements.png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15｜角色與責任圖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4-role-respons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840355"/>
            <a:ext cx="11201400" cy="17716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原圖：docs/images/D-14-role-responsibility.png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16｜系統架構圖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5-system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68805"/>
            <a:ext cx="11201400" cy="3714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原圖：docs/images/D-05-system-architecture.png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17｜DFD 資料流程圖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6-d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54442"/>
            <a:ext cx="11201400" cy="49434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原圖：docs/images/D-06-dfd.png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18-1｜ERD－帳號、學習資料與學校資料匯入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9-erd-part1-le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776" y="1143000"/>
            <a:ext cx="10075687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原圖：docs/images/D-09-erd-part1-learning.png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18-2｜ERD－校系、目標校系、導師確認與自傳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9-erd-part2-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5227" y="1143000"/>
            <a:ext cx="6876784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原圖：docs/images/D-09-erd-part2-review.png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18-3｜ERD－資料來源、公告、表單與操作紀錄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09-erd-part3-sou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9846" y="1143000"/>
            <a:ext cx="6607546" cy="5166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原圖：docs/images/D-09-erd-part3-sources.png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19｜報告用總體流程圖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pic>
        <p:nvPicPr>
          <p:cNvPr id="6" name="Picture 5" descr="D-15-report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433286"/>
            <a:ext cx="11201400" cy="5857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6272784"/>
            <a:ext cx="1088136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000" b="0">
                <a:solidFill>
                  <a:srgbClr val="5D6B79"/>
                </a:solidFill>
                <a:latin typeface="Microsoft JhengHei"/>
              </a:rPr>
              <a:t>原圖：docs/images/D-15-report-overview.png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20｜系統功能架構圖（系統→角色→功能）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2800" b="1">
                <a:solidFill>
                  <a:srgbClr val="142E4E"/>
                </a:solidFill>
                <a:latin typeface="Microsoft JhengHei"/>
              </a:rPr>
              <a:t>此頁保留圖名與貼圖位置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1069848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圖稿原始碼：docs/images/D-23-function-architecture.mmd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10698480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目前環境尚未輸出 PNG；可將對應圖檔貼到此頁後，再上傳雲端或 Canva。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21｜2026 年開發甘特圖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2800" b="1">
                <a:solidFill>
                  <a:srgbClr val="142E4E"/>
                </a:solidFill>
                <a:latin typeface="Microsoft JhengHei"/>
              </a:rPr>
              <a:t>此頁保留圖名與貼圖位置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1069848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圖稿原始碼：docs/images/D-24-gantt-2026.mmd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10698480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目前環境尚未輸出 PNG；可將對應圖檔貼到此頁後，再上傳雲端或 Canva。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22｜登入與角色導頁細部流程圖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2800" b="1">
                <a:solidFill>
                  <a:srgbClr val="142E4E"/>
                </a:solidFill>
                <a:latin typeface="Microsoft JhengHei"/>
              </a:rPr>
              <a:t>此頁保留圖名與貼圖位置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1069848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圖稿原始碼：docs/images/D-25-login-flow.mmd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10698480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目前環境尚未輸出 PNG；可將對應圖檔貼到此頁後，再上傳雲端或 Canva。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23｜學生資料上傳、AI 擷取與本人確認流程圖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2800" b="1">
                <a:solidFill>
                  <a:srgbClr val="142E4E"/>
                </a:solidFill>
                <a:latin typeface="Microsoft JhengHei"/>
              </a:rPr>
              <a:t>此頁保留圖名與貼圖位置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1069848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圖稿原始碼：docs/images/D-26-student-upload-flow.mmd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10698480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目前環境尚未輸出 PNG；可將對應圖檔貼到此頁後，再上傳雲端或 Canva。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24｜二技目標校系推薦流程圖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2800" b="1">
                <a:solidFill>
                  <a:srgbClr val="142E4E"/>
                </a:solidFill>
                <a:latin typeface="Microsoft JhengHei"/>
              </a:rPr>
              <a:t>此頁保留圖名與貼圖位置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1069848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圖稿原始碼：docs/images/D-27-target-recommendation-flow.mmd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10698480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目前環境尚未輸出 PNG；可將對應圖檔貼到此頁後，再上傳雲端或 Canva。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25｜備審送審與導師確認流程圖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2800" b="1">
                <a:solidFill>
                  <a:srgbClr val="142E4E"/>
                </a:solidFill>
                <a:latin typeface="Microsoft JhengHei"/>
              </a:rPr>
              <a:t>此頁保留圖名與貼圖位置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1069848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圖稿原始碼：docs/images/D-28-review-package-flow.mmd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10698480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目前環境尚未輸出 PNG；可將對應圖檔貼到此頁後，再上傳雲端或 Canva。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26｜電子獎狀、TA 與社團證明流程圖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2800" b="1">
                <a:solidFill>
                  <a:srgbClr val="142E4E"/>
                </a:solidFill>
                <a:latin typeface="Microsoft JhengHei"/>
              </a:rPr>
              <a:t>此頁保留圖名與貼圖位置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1069848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圖稿原始碼：docs/images/D-29-certificate-flow.mmd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10698480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目前環境尚未輸出 PNG；可將對應圖檔貼到此頁後，再上傳雲端或 Canva。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27｜管理員資料來源維護流程圖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2800" b="1">
                <a:solidFill>
                  <a:srgbClr val="142E4E"/>
                </a:solidFill>
                <a:latin typeface="Microsoft JhengHei"/>
              </a:rPr>
              <a:t>此頁保留圖名與貼圖位置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1069848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圖稿原始碼：docs/images/D-30-admin-source-flow.mmd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10698480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目前環境尚未輸出 PNG；可將對應圖檔貼到此頁後，再上傳雲端或 Canva。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28｜學生角色功能架構圖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2800" b="1">
                <a:solidFill>
                  <a:srgbClr val="142E4E"/>
                </a:solidFill>
                <a:latin typeface="Microsoft JhengHei"/>
              </a:rPr>
              <a:t>此頁保留圖名與貼圖位置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1069848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圖稿原始碼：docs/images/D-31-student-role-architecture.mmd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10698480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目前環境尚未輸出 PNG；可將對應圖檔貼到此頁後，再上傳雲端或 Canva。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29｜教師／導師角色功能架構圖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2800" b="1">
                <a:solidFill>
                  <a:srgbClr val="142E4E"/>
                </a:solidFill>
                <a:latin typeface="Microsoft JhengHei"/>
              </a:rPr>
              <a:t>此頁保留圖名與貼圖位置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1069848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圖稿原始碼：docs/images/D-32-teacher-role-architecture.mmd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10698480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目前環境尚未輸出 PNG；可將對應圖檔貼到此頁後，再上傳雲端或 Canva。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30｜科辦／行政角色功能架構圖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2800" b="1">
                <a:solidFill>
                  <a:srgbClr val="142E4E"/>
                </a:solidFill>
                <a:latin typeface="Microsoft JhengHei"/>
              </a:rPr>
              <a:t>此頁保留圖名與貼圖位置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1069848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圖稿原始碼：docs/images/D-33-staff-role-architecture.mmd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10698480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目前環境尚未輸出 PNG；可將對應圖檔貼到此頁後，再上傳雲端或 Canva。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31｜系統管理員角色功能架構圖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2800" b="1">
                <a:solidFill>
                  <a:srgbClr val="142E4E"/>
                </a:solidFill>
                <a:latin typeface="Microsoft JhengHei"/>
              </a:rPr>
              <a:t>此頁保留圖名與貼圖位置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1069848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圖稿原始碼：docs/images/D-34-admin-role-architecture.mmd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10698480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目前環境尚未輸出 PNG；可將對應圖檔貼到此頁後，再上傳雲端或 Canva。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32｜角色／功能權限表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2800" b="1">
                <a:solidFill>
                  <a:srgbClr val="142E4E"/>
                </a:solidFill>
                <a:latin typeface="Microsoft JhengHei"/>
              </a:rPr>
              <a:t>此頁保留圖名與貼圖位置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1069848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圖稿原始碼：docs/images/D-35-permission-matrix.mmd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10698480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目前環境尚未輸出 PNG；可將對應圖檔貼到此頁後，再上傳雲端或 Canva。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33｜學生細部功能流程圖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2800" b="1">
                <a:solidFill>
                  <a:srgbClr val="142E4E"/>
                </a:solidFill>
                <a:latin typeface="Microsoft JhengHei"/>
              </a:rPr>
              <a:t>此頁保留圖名與貼圖位置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1069848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圖稿原始碼：docs/images/D-36-student-detailed-flow.mmd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10698480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目前環境尚未輸出 PNG；可將對應圖檔貼到此頁後，再上傳雲端或 Canva。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34｜教師／導師細部功能流程圖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2800" b="1">
                <a:solidFill>
                  <a:srgbClr val="142E4E"/>
                </a:solidFill>
                <a:latin typeface="Microsoft JhengHei"/>
              </a:rPr>
              <a:t>此頁保留圖名與貼圖位置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1069848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圖稿原始碼：docs/images/D-37-teacher-detailed-flow.mmd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10698480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目前環境尚未輸出 PNG；可將對應圖檔貼到此頁後，再上傳雲端或 Canva。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35｜科辦／行政細部功能流程圖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2800" b="1">
                <a:solidFill>
                  <a:srgbClr val="142E4E"/>
                </a:solidFill>
                <a:latin typeface="Microsoft JhengHei"/>
              </a:rPr>
              <a:t>此頁保留圖名與貼圖位置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1069848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圖稿原始碼：docs/images/D-38-staff-detailed-flow.mmd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10698480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目前環境尚未輸出 PNG；可將對應圖檔貼到此頁後，再上傳雲端或 Canva。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36｜管理員細部功能流程圖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2800" b="1">
                <a:solidFill>
                  <a:srgbClr val="142E4E"/>
                </a:solidFill>
                <a:latin typeface="Microsoft JhengHei"/>
              </a:rPr>
              <a:t>此頁保留圖名與貼圖位置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1069848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圖稿原始碼：docs/images/D-39-admin-detailed-flow.mmd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10698480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目前環境尚未輸出 PNG；可將對應圖檔貼到此頁後，再上傳雲端或 Canva。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37｜版本／歷史／下載流程圖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2800" b="1">
                <a:solidFill>
                  <a:srgbClr val="142E4E"/>
                </a:solidFill>
                <a:latin typeface="Microsoft JhengHei"/>
              </a:rPr>
              <a:t>此頁保留圖名與貼圖位置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1069848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圖稿原始碼：docs/images/D-40-version-history-download-flow.mmd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10698480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目前環境尚未輸出 PNG；可將對應圖檔貼到此頁後，再上傳雲端或 Canva。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38｜學生主工作台展示架構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2800" b="1">
                <a:solidFill>
                  <a:srgbClr val="142E4E"/>
                </a:solidFill>
                <a:latin typeface="Microsoft JhengHei"/>
              </a:rPr>
              <a:t>此頁保留圖名與貼圖位置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1069848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圖稿原始碼：docs/images/D-41-student-dashboard-wireframe.mmd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10698480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目前環境尚未輸出 PNG；可將對應圖檔貼到此頁後，再上傳雲端或 Canva。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39｜學生資料確認頁展示架構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2800" b="1">
                <a:solidFill>
                  <a:srgbClr val="142E4E"/>
                </a:solidFill>
                <a:latin typeface="Microsoft JhengHei"/>
              </a:rPr>
              <a:t>此頁保留圖名與貼圖位置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1069848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圖稿原始碼：docs/images/D-42-data-confirmation-wireframe.mmd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10698480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目前環境尚未輸出 PNG；可將對應圖檔貼到此頁後，再上傳雲端或 Canva。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40｜導師審查頁展示架構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2800" b="1">
                <a:solidFill>
                  <a:srgbClr val="142E4E"/>
                </a:solidFill>
                <a:latin typeface="Microsoft JhengHei"/>
              </a:rPr>
              <a:t>此頁保留圖名與貼圖位置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1069848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圖稿原始碼：docs/images/D-43-teacher-review-wireframe.mmd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10698480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目前環境尚未輸出 PNG；可將對應圖檔貼到此頁後，再上傳雲端或 Canva。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08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38912"/>
            <a:ext cx="10881360" cy="502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2700" b="1">
                <a:solidFill>
                  <a:srgbClr val="142E4E"/>
                </a:solidFill>
                <a:latin typeface="Microsoft JhengHei"/>
              </a:rPr>
              <a:t>圖 41｜管理員維護頁展示架構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78440" y="512064"/>
            <a:ext cx="1234440" cy="2286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r"/>
            <a:r>
              <a:rPr sz="900" b="1">
                <a:solidFill>
                  <a:srgbClr val="208985"/>
                </a:solidFill>
                <a:latin typeface="Microsoft JhengHei"/>
              </a:rPr>
              <a:t>流程圖附錄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6565392"/>
            <a:ext cx="7772400" cy="182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l"/>
            <a:r>
              <a:rPr sz="800" b="0">
                <a:solidFill>
                  <a:srgbClr val="5D6B79"/>
                </a:solidFill>
                <a:latin typeface="Microsoft JhengHei"/>
              </a:rPr>
              <a:t>資管科智慧學習歷程系統｜指導老師討論版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2800" b="1">
                <a:solidFill>
                  <a:srgbClr val="142E4E"/>
                </a:solidFill>
                <a:latin typeface="Microsoft JhengHei"/>
              </a:rPr>
              <a:t>此頁保留圖名與貼圖位置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10698480" cy="3200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圖稿原始碼：docs/images/D-44-admin-maintenance-wireframe.mmd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71800"/>
            <a:ext cx="10698480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spAutoFit/>
          </a:bodyPr>
          <a:lstStyle/>
          <a:p>
            <a:pPr algn="ctr"/>
            <a:r>
              <a:rPr sz="1700" b="0">
                <a:solidFill>
                  <a:srgbClr val="5D6B79"/>
                </a:solidFill>
                <a:latin typeface="Microsoft JhengHei"/>
              </a:rPr>
              <a:t>目前環境尚未輸出 PNG；可將對應圖檔貼到此頁後，再上傳雲端或 Canva。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