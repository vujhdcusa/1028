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E4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1417320"/>
            <a:ext cx="10058400" cy="6400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Microsoft JhengHei"/>
              </a:rPr>
              <a:t>流程圖彙整（2026-10-10 晚，圖號重排）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6384" y="4526280"/>
            <a:ext cx="10515600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Microsoft JhengHei"/>
              </a:rPr>
              <a:t>依 10-10 定案的設計規格更新；圖號與 docs/04_圖表與介面/diagrams.md 一致。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圖 1｜學生使用案例圖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pic>
        <p:nvPicPr>
          <p:cNvPr id="6" name="Picture 5" descr="D-01-use-case-stud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2002" y="1143000"/>
            <a:ext cx="4143234" cy="5166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72784"/>
            <a:ext cx="1088136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5D6B79"/>
                </a:solidFill>
                <a:latin typeface="Microsoft JhengHei"/>
              </a:rPr>
              <a:t>原圖：docs/images/D-01-use-case-student.png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圖 2｜老師使用案例圖（導師、專任教師、指導老師）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pic>
        <p:nvPicPr>
          <p:cNvPr id="6" name="Picture 5" descr="D-01-use-case-teach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0343" y="1143000"/>
            <a:ext cx="5766552" cy="5166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72784"/>
            <a:ext cx="1088136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5D6B79"/>
                </a:solidFill>
                <a:latin typeface="Microsoft JhengHei"/>
              </a:rPr>
              <a:t>原圖：docs/images/D-01-use-case-teacher.png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圖 3｜科辦／科助使用案例圖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pic>
        <p:nvPicPr>
          <p:cNvPr id="6" name="Picture 5" descr="D-01-use-case-sta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0529" y="1143000"/>
            <a:ext cx="8166181" cy="5166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72784"/>
            <a:ext cx="1088136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5D6B79"/>
                </a:solidFill>
                <a:latin typeface="Microsoft JhengHei"/>
              </a:rPr>
              <a:t>原圖：docs/images/D-01-use-case-staff.png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圖 4｜系統管理者使用案例圖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pic>
        <p:nvPicPr>
          <p:cNvPr id="6" name="Picture 5" descr="D-01-use-case-adm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7260" y="1143000"/>
            <a:ext cx="6392718" cy="5166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72784"/>
            <a:ext cx="1088136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5D6B79"/>
                </a:solidFill>
                <a:latin typeface="Microsoft JhengHei"/>
              </a:rPr>
              <a:t>原圖：docs/images/D-01-use-case-admin.png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圖 5｜登入與角色導頁流程圖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pic>
        <p:nvPicPr>
          <p:cNvPr id="6" name="Picture 5" descr="D-02-login-role-rou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0749" y="1143000"/>
            <a:ext cx="4465740" cy="5166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72784"/>
            <a:ext cx="1088136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5D6B79"/>
                </a:solidFill>
                <a:latin typeface="Microsoft JhengHei"/>
              </a:rPr>
              <a:t>原圖：docs/images/D-02-login-role-routing.png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圖 6｜學生主線流程圖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pic>
        <p:nvPicPr>
          <p:cNvPr id="6" name="Picture 5" descr="D-10-main-line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4096" y="1143000"/>
            <a:ext cx="1499047" cy="516635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72784"/>
            <a:ext cx="1088136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5D6B79"/>
                </a:solidFill>
                <a:latin typeface="Microsoft JhengHei"/>
              </a:rPr>
              <a:t>原圖：docs/images/D-10-main-line-flow.png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圖 7｜學校資料匯入流程圖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pic>
        <p:nvPicPr>
          <p:cNvPr id="6" name="Picture 5" descr="D-21-school-data-import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3552" y="1143000"/>
            <a:ext cx="5140134" cy="5166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72784"/>
            <a:ext cx="1088136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5D6B79"/>
                </a:solidFill>
                <a:latin typeface="Microsoft JhengHei"/>
              </a:rPr>
              <a:t>原圖：docs/images/D-21-school-data-import-flow.png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圖 8｜導師確認流程圖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pic>
        <p:nvPicPr>
          <p:cNvPr id="6" name="Picture 5" descr="D-16-teacher-confirm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7660" y="1143000"/>
            <a:ext cx="5371918" cy="5166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72784"/>
            <a:ext cx="1088136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5D6B79"/>
                </a:solidFill>
                <a:latin typeface="Microsoft JhengHei"/>
              </a:rPr>
              <a:t>原圖：docs/images/D-16-teacher-confirm-flow.png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圖 9｜科辦核准電子獎狀流程圖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pic>
        <p:nvPicPr>
          <p:cNvPr id="6" name="Picture 5" descr="D-18-staff-service-record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1234" y="1143000"/>
            <a:ext cx="5844770" cy="5166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72784"/>
            <a:ext cx="1088136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5D6B79"/>
                </a:solidFill>
                <a:latin typeface="Microsoft JhengHei"/>
              </a:rPr>
              <a:t>原圖：docs/images/D-18-staff-service-record-flow.png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圖 10｜科辦表單下載區流程圖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pic>
        <p:nvPicPr>
          <p:cNvPr id="6" name="Picture 5" descr="D-20-form-download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9704" y="1143000"/>
            <a:ext cx="2327831" cy="5166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72784"/>
            <a:ext cx="1088136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5D6B79"/>
                </a:solidFill>
                <a:latin typeface="Microsoft JhengHei"/>
              </a:rPr>
              <a:t>原圖：docs/images/D-20-form-download-flow.png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圖 11｜招生資料更新流程圖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pic>
        <p:nvPicPr>
          <p:cNvPr id="6" name="Picture 5" descr="D-13-admission-rule-update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7904" y="1142999"/>
            <a:ext cx="1791431" cy="5166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72784"/>
            <a:ext cx="1088136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5D6B79"/>
                </a:solidFill>
                <a:latin typeface="Microsoft JhengHei"/>
              </a:rPr>
              <a:t>原圖：docs/images/D-13-admission-rule-update-flow.png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圖 12｜二技招生公告與 AI 推薦校系流程圖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pic>
        <p:nvPicPr>
          <p:cNvPr id="6" name="Picture 5" descr="D-19-admission-announcement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3337" y="1143000"/>
            <a:ext cx="4520565" cy="5166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72784"/>
            <a:ext cx="1088136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5D6B79"/>
                </a:solidFill>
                <a:latin typeface="Microsoft JhengHei"/>
              </a:rPr>
              <a:t>原圖：docs/images/D-19-admission-announcement-flow.png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圖 13｜官網資料來源、資料分類與來源維護流程圖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pic>
        <p:nvPicPr>
          <p:cNvPr id="6" name="Picture 5" descr="D-22-info-source-classify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6639" y="1143000"/>
            <a:ext cx="3813960" cy="5166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72784"/>
            <a:ext cx="1088136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5D6B79"/>
                </a:solidFill>
                <a:latin typeface="Microsoft JhengHei"/>
              </a:rPr>
              <a:t>原圖：docs/images/D-22-info-source-classify-flow.png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圖 14｜系統管理者維護校系備審要求流程圖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pic>
        <p:nvPicPr>
          <p:cNvPr id="6" name="Picture 5" descr="D-17-admin-maintain-requirem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8051" y="1143000"/>
            <a:ext cx="2251137" cy="5166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72784"/>
            <a:ext cx="1088136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5D6B79"/>
                </a:solidFill>
                <a:latin typeface="Microsoft JhengHei"/>
              </a:rPr>
              <a:t>原圖：docs/images/D-17-admin-maintain-requirements.png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圖 15｜角色與責任圖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pic>
        <p:nvPicPr>
          <p:cNvPr id="6" name="Picture 5" descr="D-14-role-responsi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840355"/>
            <a:ext cx="11201400" cy="17716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72784"/>
            <a:ext cx="1088136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5D6B79"/>
                </a:solidFill>
                <a:latin typeface="Microsoft JhengHei"/>
              </a:rPr>
              <a:t>原圖：docs/images/D-14-role-responsibility.png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圖 16｜系統架構圖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pic>
        <p:nvPicPr>
          <p:cNvPr id="6" name="Picture 5" descr="D-05-system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868805"/>
            <a:ext cx="11201400" cy="37147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72784"/>
            <a:ext cx="1088136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5D6B79"/>
                </a:solidFill>
                <a:latin typeface="Microsoft JhengHei"/>
              </a:rPr>
              <a:t>原圖：docs/images/D-05-system-architecture.png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圖 17｜DFD 資料流程圖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pic>
        <p:nvPicPr>
          <p:cNvPr id="6" name="Picture 5" descr="D-06-df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54442"/>
            <a:ext cx="11201400" cy="494347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72784"/>
            <a:ext cx="1088136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5D6B79"/>
                </a:solidFill>
                <a:latin typeface="Microsoft JhengHei"/>
              </a:rPr>
              <a:t>原圖：docs/images/D-06-dfd.png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圖 18-1｜ERD－帳號、學習資料與學校資料匯入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pic>
        <p:nvPicPr>
          <p:cNvPr id="6" name="Picture 5" descr="D-09-erd-part1-lear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5776" y="1143000"/>
            <a:ext cx="10075687" cy="5166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72784"/>
            <a:ext cx="1088136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5D6B79"/>
                </a:solidFill>
                <a:latin typeface="Microsoft JhengHei"/>
              </a:rPr>
              <a:t>原圖：docs/images/D-09-erd-part1-learning.png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圖 18-2｜ERD－校系、目標校系、導師確認與自傳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pic>
        <p:nvPicPr>
          <p:cNvPr id="6" name="Picture 5" descr="D-09-erd-part2-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5227" y="1143000"/>
            <a:ext cx="6876784" cy="5166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72784"/>
            <a:ext cx="1088136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5D6B79"/>
                </a:solidFill>
                <a:latin typeface="Microsoft JhengHei"/>
              </a:rPr>
              <a:t>原圖：docs/images/D-09-erd-part2-review.png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圖 18-3｜ERD－資料來源、公告、表單與操作紀錄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pic>
        <p:nvPicPr>
          <p:cNvPr id="6" name="Picture 5" descr="D-09-erd-part3-sour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9846" y="1143000"/>
            <a:ext cx="6607546" cy="5166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72784"/>
            <a:ext cx="1088136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5D6B79"/>
                </a:solidFill>
                <a:latin typeface="Microsoft JhengHei"/>
              </a:rPr>
              <a:t>原圖：docs/images/D-09-erd-part3-sources.png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圖 19｜報告用總體流程圖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pic>
        <p:nvPicPr>
          <p:cNvPr id="6" name="Picture 5" descr="D-15-report-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433286"/>
            <a:ext cx="11201400" cy="58578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72784"/>
            <a:ext cx="1088136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5D6B79"/>
                </a:solidFill>
                <a:latin typeface="Microsoft JhengHei"/>
              </a:rPr>
              <a:t>原圖：docs/images/D-15-report-overview.png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