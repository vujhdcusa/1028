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E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1417320"/>
            <a:ext cx="6766560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JhengHei"/>
              </a:rPr>
              <a:t>指導老師討論簡報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2148840"/>
            <a:ext cx="73152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200" b="0">
                <a:solidFill>
                  <a:srgbClr val="C4DEE5"/>
                </a:solidFill>
                <a:latin typeface="Microsoft JhengHei"/>
              </a:rPr>
              <a:t>目前系統流程、AI Agent 與待確認事項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4526280"/>
            <a:ext cx="786384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JhengHei"/>
              </a:rPr>
              <a:t>報告目的：確認主線是否正確，再決定哪些功能進入下一階段。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6080760"/>
            <a:ext cx="228600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200" b="0">
                <a:solidFill>
                  <a:srgbClr val="C4DEE5"/>
                </a:solidFill>
                <a:latin typeface="Microsoft JhengHei"/>
              </a:rPr>
              <a:t>2026 / 10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646920" y="731520"/>
            <a:ext cx="1005840" cy="5394960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0656" y="2377440"/>
            <a:ext cx="68580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學習
歷程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今天要請老師確認的三件事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報告重點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201168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2D7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27048"/>
            <a:ext cx="310896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2D73AB"/>
                </a:solidFill>
                <a:latin typeface="Microsoft JhengHei"/>
              </a:rPr>
              <a:t>01｜主線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56232"/>
            <a:ext cx="3108960" cy="14813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學生如何從資料整理，走到一份可送老師確認的備審資料。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29000" cy="201168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20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527048"/>
            <a:ext cx="310896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208985"/>
                </a:solidFill>
                <a:latin typeface="Microsoft JhengHei"/>
              </a:rPr>
              <a:t>02｜權限與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1856232"/>
            <a:ext cx="3108960" cy="14813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學生、導師、管理員各自能看什麼；AI 可以使用到什麼程度。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417320"/>
            <a:ext cx="3429000" cy="201168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DD8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1527048"/>
            <a:ext cx="310896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DD812F"/>
                </a:solidFill>
                <a:latin typeface="Microsoft JhengHei"/>
              </a:rPr>
              <a:t>03｜未決策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1856232"/>
            <a:ext cx="3108960" cy="14813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哪些規則需要科辦或老師確認，避免我們把錯誤假設寫進系統。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069080"/>
            <a:ext cx="164592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42E4E"/>
                </a:solidFill>
                <a:latin typeface="Microsoft JhengHei"/>
              </a:rPr>
              <a:t>簡報原則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480560"/>
            <a:ext cx="10515600" cy="12801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先確認主線，再擴充功能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AI 只提供草稿與查詢，不取代學生與老師判斷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所有招生規則先由管理者確認後才發布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系統要解決的核心問題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系統定位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34440"/>
            <a:ext cx="1060704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300" b="1">
                <a:solidFill>
                  <a:srgbClr val="142E4E"/>
                </a:solidFill>
                <a:latin typeface="Microsoft JhengHei"/>
              </a:rPr>
              <a:t>學生資料分散，老師難以逐一檢查，招生要求每年也會變動。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57400"/>
            <a:ext cx="3337560" cy="224028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2D7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301752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2D73AB"/>
                </a:solidFill>
                <a:latin typeface="Microsoft JhengHei"/>
              </a:rPr>
              <a:t>學生端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96312"/>
            <a:ext cx="3017520" cy="1709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整理五年學習歷程
選擇目標校系
看見缺件與下一步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2057400"/>
            <a:ext cx="3337560" cy="224028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20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167128"/>
            <a:ext cx="301752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208985"/>
                </a:solidFill>
                <a:latin typeface="Microsoft JhengHei"/>
              </a:rPr>
              <a:t>教師端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96312"/>
            <a:ext cx="3017520" cy="1709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看本班學生資料
查看原始檔
確認或要求修改備審內容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2057400"/>
            <a:ext cx="3337560" cy="224028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DD8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5" y="2167128"/>
            <a:ext cx="301752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DD812F"/>
                </a:solidFill>
                <a:latin typeface="Microsoft JhengHei"/>
              </a:rPr>
              <a:t>管理端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2496312"/>
            <a:ext cx="3017520" cy="1709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維護校系招生規則
審核 Agent 擷取結果
發布可用版本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983480"/>
            <a:ext cx="105156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232C36"/>
                </a:solidFill>
                <a:latin typeface="Microsoft JhengHei"/>
              </a:rPr>
              <a:t>系統輸出：學生可下載一份依目標校系整理的備審資料 Word。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目前確認的主線流程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核心流程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0-main-lin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246" y="1051560"/>
            <a:ext cx="1716746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327648"/>
            <a:ext cx="1078992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42E4E"/>
                </a:solidFill>
                <a:latin typeface="Microsoft JhengHei"/>
              </a:rPr>
              <a:t>學生選校系 → 上傳六類資料 → 缺件比對 → 自傳草稿 → 導師確認 → 下載備審資料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角色分工：每個人只做自己的事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角色與權限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4-role-respon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304319"/>
            <a:ext cx="4572000" cy="752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32120" y="1417320"/>
            <a:ext cx="5760720" cy="297180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學生：建立與修正自己的學習歷程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導師：查看本班，確認內容是否合理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行政／管理員：維護規則與招生資料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AI Agent：擷取、整理、提醒，不直接發布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4663440"/>
            <a:ext cx="5669280" cy="105156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DD8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96712" y="4773168"/>
            <a:ext cx="534924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DD812F"/>
                </a:solidFill>
                <a:latin typeface="Microsoft JhengHei"/>
              </a:rPr>
              <a:t>要請老師確認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6712" y="5102352"/>
            <a:ext cx="5349240" cy="521207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導師是否需要看到成績單、證照與其他原始檔？專任教師與科助是否需要不同權限？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學生端使用案例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學生端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stu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969" y="1024128"/>
            <a:ext cx="6675581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導師端使用案例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導師端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tea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001" y="1024127"/>
            <a:ext cx="852751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管理端使用案例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行政／管理員端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001" y="1024127"/>
            <a:ext cx="852751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AI Agent：系統的兩個 AI 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AI 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8-ai-agen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572" y="1078992"/>
            <a:ext cx="2002536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234440"/>
            <a:ext cx="4892040" cy="214884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20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344168"/>
            <a:ext cx="45720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208985"/>
                </a:solidFill>
                <a:latin typeface="Microsoft JhengHei"/>
              </a:rPr>
              <a:t>資管科小助手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673352"/>
            <a:ext cx="4572000" cy="161848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查詢科上規則
查看自己的進度與缺件
回答下一步問題
檢查自傳內容一致性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657600"/>
            <a:ext cx="4892040" cy="214884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DD8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3767328"/>
            <a:ext cx="45720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DD812F"/>
                </a:solidFill>
                <a:latin typeface="Microsoft JhengHei"/>
              </a:rPr>
              <a:t>自傳小幫手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4096512"/>
            <a:ext cx="4572000" cy="161848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一次問四題
依學生回答產生草稿
空白內容標示待補
學生修改後再送導師確認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招生資料 Agent：每年更新，但不自動發布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AI 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3-admission-rule-updat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995" y="1051560"/>
            <a:ext cx="1669769" cy="5257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417320"/>
            <a:ext cx="4480560" cy="320040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232C36"/>
                </a:solidFill>
                <a:latin typeface="Microsoft JhengHei"/>
              </a:defRPr>
            </a:pPr>
            <a:r>
              <a:t>1. 管理者提供官方來源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232C36"/>
                </a:solidFill>
                <a:latin typeface="Microsoft JhengHei"/>
              </a:defRPr>
            </a:pPr>
            <a:r>
              <a:t>2. Agent 偵測變更並擷取校系要求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232C36"/>
                </a:solidFill>
                <a:latin typeface="Microsoft JhengHei"/>
              </a:defRPr>
            </a:pPr>
            <a:r>
              <a:t>3. 系統標記為 candidate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232C36"/>
                </a:solidFill>
                <a:latin typeface="Microsoft JhengHei"/>
              </a:defRPr>
            </a:pPr>
            <a:r>
              <a:t>4. 管理者核對後才發布 published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232C36"/>
                </a:solidFill>
                <a:latin typeface="Microsoft JhengHei"/>
              </a:defRPr>
            </a:pPr>
            <a:r>
              <a:t>5. 學生只看到已發布版本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4892040"/>
            <a:ext cx="4480560" cy="91440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B1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5472" y="5001768"/>
            <a:ext cx="416052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B13F3F"/>
                </a:solidFill>
                <a:latin typeface="Microsoft JhengHei"/>
              </a:rPr>
              <a:t>要請老師確認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5472" y="5330952"/>
            <a:ext cx="41605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哪些官方網址可以作為來源？每年由誰核對與發布？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資料流與系統架構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技術概要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5-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000374"/>
            <a:ext cx="5623560" cy="1405890"/>
          </a:xfrm>
          <a:prstGeom prst="rect">
            <a:avLst/>
          </a:prstGeom>
        </p:spPr>
      </p:pic>
      <p:pic>
        <p:nvPicPr>
          <p:cNvPr id="7" name="Picture 6" descr="D-06-d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79085"/>
            <a:ext cx="5715000" cy="52484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資料表目前如何支撐主線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資料設計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9-erd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3311"/>
            <a:ext cx="11292839" cy="52142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09360"/>
            <a:ext cx="1088136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5D6B79"/>
                </a:solidFill>
                <a:latin typeface="Microsoft JhengHei"/>
              </a:rPr>
              <a:t>主線資料：學生、原始檔、學習紀錄、目標校系、備審輸出、導師審核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目前 AI 使用的安全邊界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風險與限制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98480" cy="35661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100">
                <a:solidFill>
                  <a:srgbClr val="232C36"/>
                </a:solidFill>
                <a:latin typeface="Microsoft JhengHei"/>
              </a:defRPr>
            </a:pPr>
            <a:r>
              <a:t>學生自己的 API Key：只在這次請求使用，不存檔、不寫入資料庫、不放進網址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100">
                <a:solidFill>
                  <a:srgbClr val="232C36"/>
                </a:solidFill>
                <a:latin typeface="Microsoft JhengHei"/>
              </a:defRPr>
            </a:pPr>
            <a:r>
              <a:t>系統知識庫：先由科上文件整理，AI 回答時附來源，仍需要老師或科辦核對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100">
                <a:solidFill>
                  <a:srgbClr val="232C36"/>
                </a:solidFill>
                <a:latin typeface="Microsoft JhengHei"/>
              </a:defRPr>
            </a:pPr>
            <a:r>
              <a:t>AI 產出：是草稿與提醒，學生要修改，導師要確認，系統才產出正式 Word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100">
                <a:solidFill>
                  <a:srgbClr val="232C36"/>
                </a:solidFill>
                <a:latin typeface="Microsoft JhengHei"/>
              </a:defRPr>
            </a:pPr>
            <a:r>
              <a:t>招生規則：Agent 只能產生待審版本，不能直接覆蓋已發布規則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561320" cy="82296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B1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5184648"/>
            <a:ext cx="1024128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B13F3F"/>
                </a:solidFill>
                <a:latin typeface="Microsoft JhengHei"/>
              </a:rPr>
              <a:t>需要決策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5513831"/>
            <a:ext cx="1024128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是否允許把學生資料送到 Google Gemini？若允許，採免費方案、付費方案，或要求學生同意？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請老師先確認：會擋住開發的問題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討論清單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15568"/>
            <a:ext cx="1069848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200" b="1">
                <a:solidFill>
                  <a:srgbClr val="B13F3F"/>
                </a:solidFill>
                <a:latin typeface="Microsoft JhengHei"/>
              </a:rPr>
              <a:t>這三題若沒有答案，AI 與權限設計都可能重做。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24688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300">
                <a:solidFill>
                  <a:srgbClr val="232C36"/>
                </a:solidFill>
                <a:latin typeface="Microsoft JhengHei"/>
              </a:defRPr>
            </a:pPr>
            <a:r>
              <a:t>1. 學生資料可以送給 Google Gemini 嗎？需要同意書或改用付費方案嗎？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300">
                <a:solidFill>
                  <a:srgbClr val="232C36"/>
                </a:solidFill>
                <a:latin typeface="Microsoft JhengHei"/>
              </a:defRPr>
            </a:pPr>
            <a:r>
              <a:t>2. AI 費用由學校、科上、專題經費，還是由學生自行提供金鑰？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300">
                <a:solidFill>
                  <a:srgbClr val="232C36"/>
                </a:solidFill>
                <a:latin typeface="Microsoft JhengHei"/>
              </a:defRPr>
            </a:pPr>
            <a:r>
              <a:t>3. AI 協助自傳是否可放入備審？是否要標示「AI 協助草稿」並由導師確認？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57800"/>
            <a:ext cx="103327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900" b="1">
                <a:solidFill>
                  <a:srgbClr val="142E4E"/>
                </a:solidFill>
                <a:latin typeface="Microsoft JhengHei"/>
              </a:rPr>
              <a:t>建議請老師直接給「可以／不可以／需要補件」的決定。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請老師或科辦確認：資料與規則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討論清單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424160" cy="347472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4. 9 份知識庫文件由誰核對？哪些學年度、哪些屆別適用？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5. 校系的「個人特質與專業技能」要對應哪些資料類別？例如 50% 權重怎麼算？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6. 招生 Agent 要監測哪些官方網址？各校分則是否列入？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7. 導師是否可看本班學生的成績單、證照、佐證照片與自傳原始檔？專任教師是否不同？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074920"/>
            <a:ext cx="10424160" cy="822960"/>
          </a:xfrm>
          <a:prstGeom prst="roundRect">
            <a:avLst/>
          </a:prstGeom>
          <a:solidFill>
            <a:srgbClr val="F2F6F9"/>
          </a:solidFill>
          <a:ln w="15240">
            <a:solidFill>
              <a:srgbClr val="20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5184648"/>
            <a:ext cx="1010412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300" b="1">
                <a:solidFill>
                  <a:srgbClr val="208985"/>
                </a:solidFill>
                <a:latin typeface="Microsoft JhengHei"/>
              </a:rPr>
              <a:t>目前已知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5513831"/>
            <a:ext cx="1010412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Microsoft JhengHei"/>
              </a:rPr>
              <a:t>系統可以做到權限限制，但「誰應該看得到」必須由老師與科辦決定。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請老師補充：尚未定義的角色與例外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討論清單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10424160" cy="347472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8. 科助在系統裡的任務是什麼？要維護資料、協助審核，還是只查看統計？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9. 期中修完的課暫時看不到、微學分不在成績單上，要怎麼補登與驗證？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10. 讀書計畫是否也需要 AI 小幫手？還是先完成自傳即可？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000">
                <a:solidFill>
                  <a:srgbClr val="232C36"/>
                </a:solidFill>
                <a:latin typeface="Microsoft JhengHei"/>
              </a:defRPr>
            </a:pPr>
            <a:r>
              <a:t>11. 下次驗收要看完整示範流程，還是先看主線功能？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57800"/>
            <a:ext cx="1042416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900" b="1">
                <a:solidFill>
                  <a:srgbClr val="DD812F"/>
                </a:solidFill>
                <a:latin typeface="Microsoft JhengHei"/>
              </a:rPr>
              <a:t>這些可以晚一點做，但要先留下明確的待辦與負責人。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建議現場示範順序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展示腳本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24028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2D7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72768"/>
            <a:ext cx="4114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8985"/>
                </a:solidFill>
                <a:latin typeface="Microsoft Jheng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600200"/>
            <a:ext cx="15087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142E4E"/>
                </a:solidFill>
                <a:latin typeface="Microsoft JhengHei"/>
              </a:rPr>
              <a:t>學生登入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17320"/>
            <a:ext cx="224028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20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572768"/>
            <a:ext cx="4114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8985"/>
                </a:solidFill>
                <a:latin typeface="Microsoft Jheng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791" y="1600200"/>
            <a:ext cx="15087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142E4E"/>
                </a:solidFill>
                <a:latin typeface="Microsoft JhengHei"/>
              </a:rPr>
              <a:t>選目標校系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17320"/>
            <a:ext cx="224028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DD8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572768"/>
            <a:ext cx="4114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8985"/>
                </a:solidFill>
                <a:latin typeface="Microsoft Jheng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5432" y="1600200"/>
            <a:ext cx="15087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142E4E"/>
                </a:solidFill>
                <a:latin typeface="Microsoft JhengHei"/>
              </a:rPr>
              <a:t>上傳六類資料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417320"/>
            <a:ext cx="224028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1572768"/>
            <a:ext cx="4114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8985"/>
                </a:solidFill>
                <a:latin typeface="Microsoft JhengHe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72" y="1600200"/>
            <a:ext cx="15087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142E4E"/>
                </a:solidFill>
                <a:latin typeface="Microsoft JhengHei"/>
              </a:rPr>
              <a:t>查看缺件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46120"/>
            <a:ext cx="224028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2D73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401568"/>
            <a:ext cx="4114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8985"/>
                </a:solidFill>
                <a:latin typeface="Microsoft JhengHe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429000"/>
            <a:ext cx="15087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142E4E"/>
                </a:solidFill>
                <a:latin typeface="Microsoft JhengHei"/>
              </a:rPr>
              <a:t>自傳小幫手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3246120"/>
            <a:ext cx="224028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20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0168" y="3401568"/>
            <a:ext cx="4114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8985"/>
                </a:solidFill>
                <a:latin typeface="Microsoft JhengHe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0791" y="3429000"/>
            <a:ext cx="15087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142E4E"/>
                </a:solidFill>
                <a:latin typeface="Microsoft JhengHei"/>
              </a:rPr>
              <a:t>小助手問答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246120"/>
            <a:ext cx="224028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DD8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401568"/>
            <a:ext cx="4114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8985"/>
                </a:solidFill>
                <a:latin typeface="Microsoft JhengHe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5432" y="3429000"/>
            <a:ext cx="15087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142E4E"/>
                </a:solidFill>
                <a:latin typeface="Microsoft JhengHei"/>
              </a:rPr>
              <a:t>導師確認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3246120"/>
            <a:ext cx="224028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142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3401568"/>
            <a:ext cx="4114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8985"/>
                </a:solidFill>
                <a:latin typeface="Microsoft JhengHe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0072" y="3429000"/>
            <a:ext cx="15087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142E4E"/>
                </a:solidFill>
                <a:latin typeface="Microsoft JhengHei"/>
              </a:rPr>
              <a:t>下載 Word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532120"/>
            <a:ext cx="10424160" cy="34747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232C36"/>
                </a:solidFill>
                <a:latin typeface="Microsoft JhengHei"/>
              </a:rPr>
              <a:t>管理員補充示範：上傳招生資料 → Agent 擷取 → 管理者核對 → 發布校系規則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希望老師今天帶走的結論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收尾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241280" cy="31089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142E4E"/>
                </a:solidFill>
                <a:latin typeface="Microsoft JhengHei"/>
              </a:defRPr>
            </a:pPr>
            <a:r>
              <a:t>主線：學生資料整理與備審產出流程是否正確？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142E4E"/>
                </a:solidFill>
                <a:latin typeface="Microsoft JhengHei"/>
              </a:defRPr>
            </a:pPr>
            <a:r>
              <a:t>權限：導師、專任教師、科助與管理員的可見範圍如何分？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142E4E"/>
                </a:solidFill>
                <a:latin typeface="Microsoft JhengHei"/>
              </a:defRPr>
            </a:pPr>
            <a:r>
              <a:t>AI：資料是否可送出、誰負責核對、AI 草稿是否可接受？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2400">
                <a:solidFill>
                  <a:srgbClr val="142E4E"/>
                </a:solidFill>
                <a:latin typeface="Microsoft JhengHei"/>
              </a:defRPr>
            </a:pPr>
            <a:r>
              <a:t>下一步：哪些決策今天定案，哪些列為後續功能？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66360"/>
            <a:ext cx="1051560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2500" b="1">
                <a:solidFill>
                  <a:srgbClr val="208985"/>
                </a:solidFill>
                <a:latin typeface="Microsoft JhengHei"/>
              </a:rPr>
              <a:t>謝謝老師，請協助我們先把主線定下來。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附錄｜舊版整體使用案例圖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335073"/>
            <a:ext cx="11201400" cy="782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附錄｜整體使用案例圖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614" y="1143000"/>
            <a:ext cx="7106010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附錄｜學生使用案例圖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stu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260" y="1143000"/>
            <a:ext cx="6392718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附錄｜導師使用案例圖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tea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529" y="1143000"/>
            <a:ext cx="8166181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附錄｜管理員使用案例圖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1-use-case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529" y="1143000"/>
            <a:ext cx="8166181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附錄｜登入與角色導向流程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2-login-role-rou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749" y="1143000"/>
            <a:ext cx="4465740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附錄｜學生流程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2-studen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805" y="1142999"/>
            <a:ext cx="865629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附錄｜專題審核流程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3-group-project-review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192" y="1143000"/>
            <a:ext cx="3756854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附錄｜管理維護流程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4-admin-maintenanc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605" y="1143000"/>
            <a:ext cx="1662029" cy="51663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附錄｜系統架構圖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5-syste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26005"/>
            <a:ext cx="11201400" cy="2800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附錄｜資料流程圖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6-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824" y="1143000"/>
            <a:ext cx="5625592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附錄｜AI Agent 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8-ai-agen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311" y="1143000"/>
            <a:ext cx="2038617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附錄｜舊版 ERD 資料表關聯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9-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064" y="1143000"/>
            <a:ext cx="9351111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附錄｜ERD 資料表關聯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09-erd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08" y="1143000"/>
            <a:ext cx="11189022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附錄｜主線流程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0-main-lin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446" y="1143000"/>
            <a:ext cx="1672347" cy="51663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附錄｜期中核心流程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0-midterm-cor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133" y="1143000"/>
            <a:ext cx="8984973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附錄｜報表總覽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0-report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12877"/>
            <a:ext cx="11201399" cy="16266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附錄｜行政表單流程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1-admin-forms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327" y="1143000"/>
            <a:ext cx="2004584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附錄｜招生規則更新流程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3-admission-rule-updat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254" y="1143000"/>
            <a:ext cx="1640730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附錄｜角色責任圖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4-role-respon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04636"/>
            <a:ext cx="11201400" cy="18430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附錄｜報表總覽（第二版）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5-report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26142"/>
            <a:ext cx="11201400" cy="600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附錄｜導師確認流程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6-teacher-confirm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150" y="1143000"/>
            <a:ext cx="3130938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8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2700" b="1">
                <a:solidFill>
                  <a:srgbClr val="142E4E"/>
                </a:solidFill>
                <a:latin typeface="Microsoft JhengHei"/>
              </a:rPr>
              <a:t>附錄｜管理員維護招生要求流程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512064"/>
            <a:ext cx="123444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/>
            <a:r>
              <a:rPr sz="900" b="1">
                <a:solidFill>
                  <a:srgbClr val="208985"/>
                </a:solidFill>
                <a:latin typeface="Microsoft JhengHei"/>
              </a:rPr>
              <a:t>流程圖附錄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/>
            <a:r>
              <a:rPr sz="800" b="0">
                <a:solidFill>
                  <a:srgbClr val="5D6B79"/>
                </a:solidFill>
                <a:latin typeface="Microsoft JhengHei"/>
              </a:rPr>
              <a:t>資管科智慧學習歷程系統｜指導老師討論版</a:t>
            </a:r>
          </a:p>
        </p:txBody>
      </p:sp>
      <p:pic>
        <p:nvPicPr>
          <p:cNvPr id="6" name="Picture 5" descr="D-17-admin-maintain-requi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051" y="1143000"/>
            <a:ext cx="2251137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272784"/>
            <a:ext cx="108813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D6B79"/>
                </a:solidFill>
                <a:latin typeface="Microsoft JhengHei"/>
              </a:rPr>
              <a:t>原圖取自 docs/images，作為目前規格與實作的對照版本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